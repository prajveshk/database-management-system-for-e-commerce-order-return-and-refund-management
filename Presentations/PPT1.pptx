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JetBrains Mono Medium" panose="020B0604020202020204" charset="0"/>
      <p:regular r:id="rId14"/>
    </p:embeddedFont>
    <p:embeddedFont>
      <p:font typeface="Tinos" panose="020B0604020202020204" charset="0"/>
      <p:regular r:id="rId15"/>
    </p:embeddedFont>
    <p:embeddedFont>
      <p:font typeface="Tino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109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79141"/>
            <a:ext cx="10972526" cy="14811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3600" b="1" kern="0" spc="-29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Design and Implementation of a Database Management System for E-Commerce Order, Return and Refund Management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277114" y="3200631"/>
            <a:ext cx="363736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Undergraduate project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52557" y="3881140"/>
            <a:ext cx="668648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450" kern="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DATABASE MANAGEMENT SYSTEM · E-COMMERCE OPERATIONS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1981150" y="4300041"/>
            <a:ext cx="8229394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9585" y="4533404"/>
            <a:ext cx="109725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structured data model for controlling the complete post-purchase lifecycle: order placement, fulfilment, returns, inspection, refunds, inventory impact, and audit history.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981150" y="5385098"/>
            <a:ext cx="8229394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4D2B5-4F94-3C18-4D1F-7F92F82074AA}"/>
              </a:ext>
            </a:extLst>
          </p:cNvPr>
          <p:cNvSpPr txBox="1"/>
          <p:nvPr/>
        </p:nvSpPr>
        <p:spPr>
          <a:xfrm>
            <a:off x="4405599" y="5820152"/>
            <a:ext cx="2929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nos" panose="020B0604020202020204" charset="0"/>
                <a:ea typeface="Tinos" panose="020B0604020202020204" charset="0"/>
                <a:cs typeface="Tinos" panose="020B0604020202020204" charset="0"/>
              </a:rPr>
              <a:t>Kakaraparthi Komal Prajvesh</a:t>
            </a:r>
          </a:p>
          <a:p>
            <a:pPr algn="ctr"/>
            <a:r>
              <a:rPr lang="en-US" dirty="0">
                <a:latin typeface="Tinos" panose="020B0604020202020204" charset="0"/>
                <a:ea typeface="Tinos" panose="020B0604020202020204" charset="0"/>
                <a:cs typeface="Tinos" panose="020B0604020202020204" charset="0"/>
              </a:rPr>
              <a:t>25WU0102114</a:t>
            </a:r>
            <a:endParaRPr lang="en-IN" dirty="0">
              <a:latin typeface="Tinos" panose="020B0604020202020204" charset="0"/>
              <a:ea typeface="Tinos" panose="020B0604020202020204" charset="0"/>
              <a:cs typeface="Tinos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91568"/>
            <a:ext cx="10972526" cy="1097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b="1" kern="0" spc="-32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One connected system can make post-purchase operations traceable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09585" y="290621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9585" y="3139579"/>
            <a:ext cx="151126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1663658" y="3139579"/>
            <a:ext cx="991845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relational DBMS links customers, orders, payments, returns, refunds, inventory, and audit history in one consistent model.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929360"/>
            <a:ext cx="541006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Project aim.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Replace fragmented order and after-sales records with a structured, queryable system.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72046" y="3929360"/>
            <a:ext cx="5410065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Core outcome.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Track reliable status from order placement to refund completion.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09585" y="4781054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09585" y="5014416"/>
            <a:ext cx="1158211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Design lens: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data integrity, process visibility, and controlled access.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31312" y="6577112"/>
            <a:ext cx="6603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95066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Manual after-sales handling creates avoidable gaps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09585" y="2348309"/>
            <a:ext cx="6695213" cy="271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Order, return, and refund information is often scattered across tools or spreadsheets.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Status changes can be delayed, duplicated, or difficult to audit.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Customers and support staff lack one dependable view of the transaction history.</a:t>
            </a:r>
            <a:endParaRPr lang="en-US" sz="2000" dirty="0"/>
          </a:p>
          <a:p>
            <a:pPr marL="406400" indent="-406400" algn="l">
              <a:lnSpc>
                <a:spcPct val="107000"/>
              </a:lnSpc>
              <a:buSzPct val="100000"/>
              <a:buChar char="•"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proposed system centralizes records and enforces valid state transitions.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558791" y="2348309"/>
            <a:ext cx="6350" cy="2714625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819135" y="2348309"/>
            <a:ext cx="437256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PROBLEM STATEMENT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819135" y="2629098"/>
            <a:ext cx="3762975" cy="677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One lifecycle needs one source of truth.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819135" y="3417888"/>
            <a:ext cx="3762975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Design a DBMS that manages the full order-to-refund lifecycle accurately and efficiently.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531312" y="6577112"/>
            <a:ext cx="6603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SRS: requirements define what the system must control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09585" y="1395214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079473" y="1340644"/>
            <a:ext cx="1050263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Customer and order management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creates accounts, places orders, stores addresses, and tracks order status.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400895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02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79473" y="2346325"/>
            <a:ext cx="111122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Return management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records requests, reasons, eligibility decisions, and item-level return status.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081536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9473" y="3026966"/>
            <a:ext cx="1050263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Refund management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calculates refundable amounts, records approval, initiates refunds, and confirms completion.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585" y="4087217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79473" y="4032647"/>
            <a:ext cx="10502637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Inventory and payment linkage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connects order items, stock impact, payment records, and refund transactions.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585" y="5092898"/>
            <a:ext cx="825479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b="1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05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79473" y="5038328"/>
            <a:ext cx="111122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Auditability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retains timestamps, actors, status history, and exception notes.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09585" y="2152650"/>
            <a:ext cx="10972526" cy="3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9585" y="2833291"/>
            <a:ext cx="10972526" cy="3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9585" y="3838972"/>
            <a:ext cx="10972526" cy="3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09585" y="4844653"/>
            <a:ext cx="10972526" cy="3175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531312" y="6577112"/>
            <a:ext cx="6603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Actors, boundaries, and quality requirements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09585" y="1162844"/>
            <a:ext cx="1158211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0" spc="87" dirty="0">
                <a:solidFill>
                  <a:srgbClr val="1A1A8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RESPONSIBILITY MAP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09585" y="3588948"/>
            <a:ext cx="31241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Customer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4006063"/>
            <a:ext cx="2514537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View orders, request returns, and track refund status.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81310" y="3588948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Support agent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81310" y="4006063"/>
            <a:ext cx="2285943" cy="7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 requests, communicate decisions, and resolve exceptions.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2" y="3588948"/>
            <a:ext cx="289552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Warehouse operator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24442" y="4006063"/>
            <a:ext cx="2285943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Inspect returned items and record condition.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67573" y="3588948"/>
            <a:ext cx="161410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67573" y="4006063"/>
            <a:ext cx="2514537" cy="503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Manage rules, roles, reports, and audit access.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585" y="4963425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9585" y="5196788"/>
            <a:ext cx="109725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Non-functional requirements:</a:t>
            </a: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data consistency, role-based access, responsive queries, recoverability, input validation, and secure payment references without storing sensitive card data.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36842" y="3588948"/>
            <a:ext cx="31749" cy="117286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079973" y="3588948"/>
            <a:ext cx="31749" cy="117286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823104" y="3588948"/>
            <a:ext cx="31749" cy="117286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1531312" y="6577112"/>
            <a:ext cx="6603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5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4FEEFA7-7E9B-1499-1FAE-6CDEA6FAA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061" y="394677"/>
            <a:ext cx="12192000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System architecture separates channels from the data core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09585" y="1162844"/>
            <a:ext cx="10972526" cy="1416645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38179" y="1391444"/>
            <a:ext cx="1112492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0" spc="87" dirty="0">
                <a:solidFill>
                  <a:srgbClr val="0C0C0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CLIENT LAYER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38179" y="1700808"/>
            <a:ext cx="518147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Customer Portal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Orders · returns · refund status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72046" y="1700808"/>
            <a:ext cx="518147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Operations Dashboard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Review · inspection · reporting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09585" y="2731889"/>
            <a:ext cx="10972526" cy="1435596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38179" y="2960489"/>
            <a:ext cx="1112492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0" spc="87" dirty="0">
                <a:solidFill>
                  <a:srgbClr val="0C0C0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SERVICE LAYER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38179" y="3269853"/>
            <a:ext cx="31241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Authentication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505112" y="3269853"/>
            <a:ext cx="31241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Order service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72046" y="3269853"/>
            <a:ext cx="31241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Return service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838979" y="3269853"/>
            <a:ext cx="31241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Refund service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8179" y="3686969"/>
            <a:ext cx="11124922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Notifications and reporting consume controlled service outputs.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585" y="4319885"/>
            <a:ext cx="10972526" cy="1512987"/>
          </a:xfrm>
          <a:prstGeom prst="rect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38179" y="4548485"/>
            <a:ext cx="11124922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50" kern="0" spc="87" dirty="0">
                <a:solidFill>
                  <a:srgbClr val="FFFFFF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DATA LAYER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38179" y="4829274"/>
            <a:ext cx="10515337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0" spc="-5" dirty="0">
                <a:solidFill>
                  <a:srgbClr val="FFFFFF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Relational DBMS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38179" y="5279231"/>
            <a:ext cx="1112492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Constraints · transactions · indexes · audit log · backups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9585" y="5972572"/>
            <a:ext cx="1158211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Payment Gateway connects only through the Payment and Refund services; channels never bypass the data core.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31312" y="6577112"/>
            <a:ext cx="6603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relational schema keeps every business event anchored to an order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162844"/>
          <a:ext cx="10972526" cy="3773789"/>
        </p:xfrm>
        <a:graphic>
          <a:graphicData uri="http://schemas.openxmlformats.org/drawingml/2006/table">
            <a:tbl>
              <a:tblPr/>
              <a:tblGrid>
                <a:gridCol w="2194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8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Entity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Key attributes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Customer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customer_id, name, email, phone, created_at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Order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order_id, customer_id, order_date, total_amount, order_status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OrderItem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order_item_id, order_id, product_id, quantity, unit_price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Payment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payment_id, order_id, provider_reference, amount, payment_status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ReturnRequest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return_id, order_id, customer_id, reason, return_status, requested_at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2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Refund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0C0C0C"/>
                          </a:solidFill>
                          <a:latin typeface="Tinos" pitchFamily="34" charset="0"/>
                          <a:ea typeface="Tinos" pitchFamily="34" charset="-122"/>
                          <a:cs typeface="Tinos" pitchFamily="34" charset="-120"/>
                        </a:rPr>
                        <a:t>refund_id, return_id, payment_id, amount, refund_status, processed_at</a:t>
                      </a:r>
                      <a:endParaRPr lang="en-US" sz="2000" dirty="0">
                        <a:latin typeface="Tinos" charset="0"/>
                        <a:ea typeface="Tinos" charset="0"/>
                        <a:cs typeface="Tinos" charset="0"/>
                      </a:endParaRPr>
                    </a:p>
                  </a:txBody>
                  <a:tcPr marL="190495" marR="190495" marT="101598" marB="1015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09585" y="5076428"/>
            <a:ext cx="10972526" cy="755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Primary keys, foreign keys, unique constraints, status domains, and indexes on </a:t>
            </a: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customer_id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, </a:t>
            </a: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order_id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, </a:t>
            </a: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return_status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, and </a:t>
            </a:r>
            <a:r>
              <a:rPr lang="en-US" sz="1600" b="1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refund_status</a:t>
            </a: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 preserve integrity and queryability. Normalize repeated data into related tables and preserve historical events instead of overwriting them.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531312" y="6577112"/>
            <a:ext cx="6603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4" y="777974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ER model makes ownership and cardinality explicit</a:t>
            </a:r>
            <a:endParaRPr lang="en-US" sz="2900" dirty="0"/>
          </a:p>
        </p:txBody>
      </p:sp>
      <p:sp>
        <p:nvSpPr>
          <p:cNvPr id="14" name="Shape 11"/>
          <p:cNvSpPr/>
          <p:nvPr/>
        </p:nvSpPr>
        <p:spPr>
          <a:xfrm>
            <a:off x="7901584" y="2160389"/>
            <a:ext cx="6350" cy="3090466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8161927" y="2160389"/>
            <a:ext cx="3420183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Why the model matters</a:t>
            </a:r>
            <a:endParaRPr lang="en-US" sz="2300" dirty="0"/>
          </a:p>
        </p:txBody>
      </p:sp>
      <p:sp>
        <p:nvSpPr>
          <p:cNvPr id="16" name="Text 13"/>
          <p:cNvSpPr/>
          <p:nvPr/>
        </p:nvSpPr>
        <p:spPr>
          <a:xfrm>
            <a:off x="8161927" y="2610346"/>
            <a:ext cx="3420183" cy="2134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Returns are item-aware rather than order-only.</a:t>
            </a:r>
            <a:endParaRPr lang="en-US" sz="2000" dirty="0"/>
          </a:p>
          <a:p>
            <a:pPr marL="0" indent="0" algn="l">
              <a:lnSpc>
                <a:spcPct val="107000"/>
              </a:lnSpc>
              <a:spcAft>
                <a:spcPts val="700"/>
              </a:spcAft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Refunds are traceable to both a return and a payment.</a:t>
            </a:r>
            <a:endParaRPr lang="en-US" sz="2000" dirty="0"/>
          </a:p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Every child record carries a foreign key back to its parent.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9585" y="6577112"/>
            <a:ext cx="13819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endParaRPr lang="en-US" sz="800" dirty="0"/>
          </a:p>
          <a:p>
            <a:pPr marL="0" indent="0" algn="l">
              <a:lnSpc>
                <a:spcPct val="107000"/>
              </a:lnSpc>
              <a:buNone/>
            </a:pP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531312" y="6577112"/>
            <a:ext cx="6603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8</a:t>
            </a:r>
            <a:endParaRPr lang="en-US" sz="8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71D53E-F0B2-886F-0AC0-C4EAB8464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868" y="1411814"/>
            <a:ext cx="4646612" cy="50566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The lifecycle turns one purchase into a controlled sequence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09585" y="3641427"/>
            <a:ext cx="10972526" cy="28575"/>
          </a:xfrm>
          <a:prstGeom prst="roundRect">
            <a:avLst>
              <a:gd name="adj" fmla="val 39999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49411" y="3133427"/>
            <a:ext cx="28574" cy="50800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968451" y="3546177"/>
            <a:ext cx="190495" cy="190500"/>
          </a:xfrm>
          <a:prstGeom prst="ellipse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3578" y="1146969"/>
            <a:ext cx="2400240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900" b="1" kern="0" spc="-1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Place order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3578" y="1579265"/>
            <a:ext cx="2400240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Validate cart, create order and items, reserve stock, record payment result.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62271" y="3641427"/>
            <a:ext cx="28574" cy="50800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581310" y="3546177"/>
            <a:ext cx="190495" cy="190500"/>
          </a:xfrm>
          <a:prstGeom prst="ellipse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476438" y="4403427"/>
            <a:ext cx="2400240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900" b="1" kern="0" spc="-1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Fulfil and deliver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476438" y="4835723"/>
            <a:ext cx="240024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Update fulfilment and delivery status with timestamps.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275131" y="3133427"/>
            <a:ext cx="28574" cy="50800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194170" y="3546177"/>
            <a:ext cx="190495" cy="190500"/>
          </a:xfrm>
          <a:prstGeom prst="ellipse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89298" y="1146969"/>
            <a:ext cx="2400240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900" b="1" kern="0" spc="-1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Request return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089298" y="1579265"/>
            <a:ext cx="240024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Select item, reason, quantity, and supporting note.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87990" y="3641427"/>
            <a:ext cx="28574" cy="50800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07030" y="3546177"/>
            <a:ext cx="190495" cy="190500"/>
          </a:xfrm>
          <a:prstGeom prst="ellipse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702157" y="4403427"/>
            <a:ext cx="2400240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900" b="1" kern="0" spc="-1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Inspect and decide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5702157" y="4835723"/>
            <a:ext cx="2400240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Verify eligibility and received condition.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500850" y="3133427"/>
            <a:ext cx="28574" cy="50800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419889" y="3546177"/>
            <a:ext cx="190495" cy="190500"/>
          </a:xfrm>
          <a:prstGeom prst="ellipse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017" y="1146969"/>
            <a:ext cx="2400240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900" b="1" kern="0" spc="-15" dirty="0">
                <a:solidFill>
                  <a:srgbClr val="1A1A8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Approve refund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315017" y="1579265"/>
            <a:ext cx="240024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Calculate amount, call the provider, confirm outcome.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113709" y="3641427"/>
            <a:ext cx="28574" cy="508000"/>
          </a:xfrm>
          <a:prstGeom prst="roundRect">
            <a:avLst>
              <a:gd name="adj" fmla="val 40000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10032749" y="3546177"/>
            <a:ext cx="190495" cy="190500"/>
          </a:xfrm>
          <a:prstGeom prst="ellipse">
            <a:avLst/>
          </a:prstGeom>
          <a:solidFill>
            <a:srgbClr val="1A1A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927877" y="4403427"/>
            <a:ext cx="2400240" cy="279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900" b="1" kern="0" spc="-1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Close the loop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8927877" y="4835723"/>
            <a:ext cx="2400240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Update inventory, notify the customer, retain the audit trail.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9585" y="5874345"/>
            <a:ext cx="11582110" cy="251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6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Each transition produces a timestamped, queryable state change rather than an undocumented manual update.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31312" y="6577112"/>
            <a:ext cx="6603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34741"/>
            <a:ext cx="10972526" cy="397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900" b="1" kern="0" spc="-23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Implementation success means trustworthy state, not just stored data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09585" y="2287984"/>
            <a:ext cx="3428914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Implementation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09585" y="2737941"/>
            <a:ext cx="3428914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Relational schema, REST endpoints, validation rules, role-based access, transactions, and indexed queries.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495688" y="2287984"/>
            <a:ext cx="3200320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Testing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4495688" y="2737941"/>
            <a:ext cx="3200320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Unit tests for rules, integration tests for order-to-refund flows, constraint tests, and failure-recovery tests.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53196" y="2287984"/>
            <a:ext cx="3428914" cy="338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2300" b="1" kern="0" spc="-5" dirty="0">
                <a:solidFill>
                  <a:srgbClr val="0C0C0C"/>
                </a:solidFill>
                <a:latin typeface="Tinos Bold" pitchFamily="34" charset="0"/>
                <a:ea typeface="Tinos Bold" pitchFamily="34" charset="-122"/>
                <a:cs typeface="Tinos Bold" pitchFamily="34" charset="-120"/>
              </a:rPr>
              <a:t>Future scope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153196" y="2737941"/>
            <a:ext cx="3428914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Analytics dashboard, automated return eligibility, fraud signals, and event-driven notifications.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9585" y="4239716"/>
            <a:ext cx="10972526" cy="31651"/>
          </a:xfrm>
          <a:prstGeom prst="roundRect">
            <a:avLst>
              <a:gd name="adj" fmla="val 49998"/>
            </a:avLst>
          </a:prstGeom>
          <a:solidFill>
            <a:srgbClr val="0C0C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09585" y="4473079"/>
            <a:ext cx="1097252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20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well-designed DBMS gives e-commerce teams one reliable source of truth for every post-purchase decision.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60743" y="2287984"/>
            <a:ext cx="12700" cy="17501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918252" y="2287984"/>
            <a:ext cx="12700" cy="175012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9585" y="6577112"/>
            <a:ext cx="1381983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STUDY RECORD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480513" y="6577112"/>
            <a:ext cx="711182" cy="1299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00" dirty="0">
                <a:solidFill>
                  <a:srgbClr val="0C0C0C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5C78C6-ABE1-165D-CD7E-49E06D9DE40A}"/>
              </a:ext>
            </a:extLst>
          </p:cNvPr>
          <p:cNvSpPr txBox="1"/>
          <p:nvPr/>
        </p:nvSpPr>
        <p:spPr>
          <a:xfrm>
            <a:off x="2924907" y="2767280"/>
            <a:ext cx="63421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latin typeface="Tinos" panose="020B0604020202020204" charset="0"/>
                <a:ea typeface="Tinos" panose="020B0604020202020204" charset="0"/>
                <a:cs typeface="Tinos" panose="020B0604020202020204" charset="0"/>
              </a:rPr>
              <a:t>THANK YOU</a:t>
            </a:r>
            <a:endParaRPr lang="en-IN" sz="8000" dirty="0">
              <a:latin typeface="Tinos" panose="020B0604020202020204" charset="0"/>
              <a:ea typeface="Tinos" panose="020B0604020202020204" charset="0"/>
              <a:cs typeface="Tino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62313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891</Words>
  <Application>Microsoft Office PowerPoint</Application>
  <PresentationFormat>Widescreen</PresentationFormat>
  <Paragraphs>122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Tinos</vt:lpstr>
      <vt:lpstr>Tinos Bold</vt:lpstr>
      <vt:lpstr>JetBrains Mono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Prajvesh Kakaraparthi</cp:lastModifiedBy>
  <cp:revision>6</cp:revision>
  <dcterms:created xsi:type="dcterms:W3CDTF">2026-09-09T04:07:08Z</dcterms:created>
  <dcterms:modified xsi:type="dcterms:W3CDTF">2026-09-11T05:29:09Z</dcterms:modified>
</cp:coreProperties>
</file>
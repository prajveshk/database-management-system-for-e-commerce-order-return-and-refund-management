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JetBrains Mono Medium" panose="020B0604020202020204" charset="0"/>
      <p:regular r:id="rId17"/>
    </p:embeddedFont>
    <p:embeddedFont>
      <p:font typeface="Tinos" panose="020B0604020202020204" charset="0"/>
      <p:regular r:id="rId18"/>
    </p:embeddedFont>
    <p:embeddedFont>
      <p:font typeface="Tinos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2152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8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2A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82588" y="440822"/>
            <a:ext cx="8051599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REVIEW 2 · DATABASE SYSTEMS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82588" y="1914620"/>
            <a:ext cx="7569011" cy="2084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kern="100" spc="-30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Design and Implementation of a Database Management System for E-Commerce Order, Return and Refund Management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82588" y="4144347"/>
            <a:ext cx="8051599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Detailed Design and Implementation Progress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82588" y="4609088"/>
            <a:ext cx="8051599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Kakaraparthi Komal Prajvesh · Roll No. 25WU0102114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82588" y="6177967"/>
            <a:ext cx="8051599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B.Tech AI &amp; ML project review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541460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 kern="100" spc="-23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Review 2 moves the project from design into implementation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09585" y="2085578"/>
            <a:ext cx="5333867" cy="2066727"/>
          </a:xfrm>
          <a:prstGeom prst="roundRect">
            <a:avLst>
              <a:gd name="adj" fmla="val 5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38179" y="2323200"/>
            <a:ext cx="5105272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REVIEW 1 · DESIGN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38179" y="2627987"/>
            <a:ext cx="487667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Review 1 covered the problem statement, SRS, three-layer architecture, core entities, and the order-to-refund lifecycle.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248244" y="2085578"/>
            <a:ext cx="5333867" cy="2066727"/>
          </a:xfrm>
          <a:prstGeom prst="roundRect">
            <a:avLst>
              <a:gd name="adj" fmla="val 5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76838" y="2323200"/>
            <a:ext cx="5105272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REVIEW 2 · IMPLEMENTATION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76838" y="2627987"/>
            <a:ext cx="4876678" cy="1300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Review 2 focuses on the normalized schema, SQL implementation, database-enforced business rules, core queries and APIs, and first-round testing.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585" y="4292005"/>
            <a:ext cx="73658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9585" y="4609505"/>
            <a:ext cx="3454314" cy="27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900" b="1" kern="100" spc="-4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Review 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09585" y="5004971"/>
            <a:ext cx="3454314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Design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368691" y="4292005"/>
            <a:ext cx="73658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368691" y="4609505"/>
            <a:ext cx="3454314" cy="27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900" b="1" kern="100" spc="-4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Review 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368691" y="5004971"/>
            <a:ext cx="3454314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Implementation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127797" y="4292005"/>
            <a:ext cx="73658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127797" y="4609505"/>
            <a:ext cx="3454314" cy="27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900" b="1" kern="100" spc="-4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Review 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127797" y="5004971"/>
            <a:ext cx="3454314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Validation and Demo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09585" y="6528296"/>
            <a:ext cx="1961307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STUDY RECORD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93212" y="6528296"/>
            <a:ext cx="698483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8622"/>
            <a:ext cx="1158211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DATA MODEL · ER VIEW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09585" y="899515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 kern="100" spc="-23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Item-level returns make partial refunds possible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09585" y="1735911"/>
            <a:ext cx="3555911" cy="1950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Returns are attached to purchased items rather than only to an order. That structure supports partial returns, item-specific inspection, and one or more refunds against a return request.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3777468"/>
            <a:ext cx="3555911" cy="1007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Core cardinalities:</a:t>
            </a: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Customer 1:N Order · Order 1:N OrderItem · OrderItem 1:N ReturnItem · ReturnRequest 1:1 Inspection · ReturnRequest 1:N Refund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288" y="1415058"/>
            <a:ext cx="6547381" cy="36829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85" y="6528296"/>
            <a:ext cx="1961307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STUDY RECORD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493212" y="6528296"/>
            <a:ext cx="698483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8622"/>
            <a:ext cx="1158211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SCHEMA DESIGN · NORMALIZATION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09585" y="899515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 kern="100" spc="-23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Normalization separates reusable product data from purchase facts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09585" y="1443633"/>
            <a:ext cx="86357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1799233"/>
            <a:ext cx="2514537" cy="19050"/>
          </a:xfrm>
          <a:prstGeom prst="rect">
            <a:avLst/>
          </a:prstGeom>
          <a:solidFill>
            <a:srgbClr val="1A1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09585" y="1970683"/>
            <a:ext cx="2514537" cy="27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900" b="1" kern="100" spc="-4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UNF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09585" y="2366149"/>
            <a:ext cx="2514537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Repeating order and return details are mixed together.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428914" y="1443633"/>
            <a:ext cx="86357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28914" y="1799233"/>
            <a:ext cx="2514537" cy="19050"/>
          </a:xfrm>
          <a:prstGeom prst="rect">
            <a:avLst/>
          </a:prstGeom>
          <a:solidFill>
            <a:srgbClr val="1A1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428914" y="1970683"/>
            <a:ext cx="2514537" cy="27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900" b="1" kern="100" spc="-4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1NF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428914" y="2366149"/>
            <a:ext cx="2514537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Atomic values and one row per item.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248244" y="1443633"/>
            <a:ext cx="86357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48244" y="1799233"/>
            <a:ext cx="2514537" cy="19050"/>
          </a:xfrm>
          <a:prstGeom prst="rect">
            <a:avLst/>
          </a:prstGeom>
          <a:solidFill>
            <a:srgbClr val="1A1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48244" y="1970683"/>
            <a:ext cx="2514537" cy="27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900" b="1" kern="100" spc="-4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2NF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248244" y="2366149"/>
            <a:ext cx="2514537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Remove partial dependencies.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067573" y="1443633"/>
            <a:ext cx="86357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067573" y="1799233"/>
            <a:ext cx="2514537" cy="19050"/>
          </a:xfrm>
          <a:prstGeom prst="rect">
            <a:avLst/>
          </a:prstGeom>
          <a:solidFill>
            <a:srgbClr val="1A1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067573" y="1970683"/>
            <a:ext cx="2514537" cy="27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900" b="1" kern="100" spc="-4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3NF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067573" y="2366149"/>
            <a:ext cx="2514537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Separate reusable product data from purchase facts.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09585" y="3476526"/>
            <a:ext cx="5333867" cy="1741686"/>
          </a:xfrm>
          <a:prstGeom prst="roundRect">
            <a:avLst>
              <a:gd name="adj" fmla="val 65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38179" y="3714148"/>
            <a:ext cx="5105272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BEFORE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38179" y="4018935"/>
            <a:ext cx="4876678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OrderItem stores product name and current price alongside each purchase row.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248244" y="3476526"/>
            <a:ext cx="5333867" cy="1741686"/>
          </a:xfrm>
          <a:prstGeom prst="rect">
            <a:avLst/>
          </a:prstGeom>
          <a:solidFill>
            <a:srgbClr val="0E2A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476838" y="3714148"/>
            <a:ext cx="5105272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AFTER · 3NF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476838" y="4018935"/>
            <a:ext cx="487667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OrderItem retains </a:t>
            </a:r>
            <a:r>
              <a:rPr lang="en-US" sz="2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product_id</a:t>
            </a:r>
            <a:r>
              <a:rPr lang="en-US" sz="20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and </a:t>
            </a:r>
            <a:r>
              <a:rPr lang="en-US" sz="2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unit_price_at_purchase</a:t>
            </a:r>
            <a:r>
              <a:rPr lang="en-US" sz="20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; reusable product data remains in Product.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09585" y="5361595"/>
            <a:ext cx="10972526" cy="503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Safeguards: primary and foreign keys with ON DELETE RESTRICT · CHECK quantity &gt; 0 and amount &gt;= 0 · UNIQUE provider_reference · controlled status domains.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9585" y="6528296"/>
            <a:ext cx="1961307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STUDY RECORD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493212" y="6528296"/>
            <a:ext cx="698483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791"/>
            <a:ext cx="1158211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850" kern="100" spc="52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SQL IMPLEMENTATION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09585" y="770660"/>
            <a:ext cx="10972526" cy="23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750" b="1" kern="100" spc="-14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The database schema is implemented with enforceable safeguards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609585" y="1300262"/>
            <a:ext cx="7111822" cy="5385693"/>
          </a:xfrm>
          <a:prstGeom prst="roundRect">
            <a:avLst>
              <a:gd name="adj" fmla="val 212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09585" y="1300262"/>
            <a:ext cx="25399" cy="5385693"/>
          </a:xfrm>
          <a:prstGeom prst="rect">
            <a:avLst/>
          </a:prstGeom>
          <a:solidFill>
            <a:srgbClr val="0C0C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94038" y="1519495"/>
            <a:ext cx="6568315" cy="4953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0C0C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ReturnRequest (</a:t>
            </a:r>
            <a:endParaRPr lang="en-US" sz="17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0C0C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return_id BIGINT PRIMARY KEY,</a:t>
            </a:r>
            <a:endParaRPr lang="en-US" sz="17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0C0C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order_id BIGINT NOT NULL,</a:t>
            </a:r>
            <a:endParaRPr lang="en-US" sz="17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0C0C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return_status VARCHAR(24) NOT NULL,</a:t>
            </a:r>
            <a:endParaRPr lang="en-US" sz="17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0C0C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requested_at TIMESTAMP NOT NULL,</a:t>
            </a:r>
            <a:endParaRPr lang="en-US" sz="17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0C0C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inspected_at TIMESTAMP,</a:t>
            </a:r>
            <a:endParaRPr lang="en-US" sz="17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0C0C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reason VARCHAR(120),</a:t>
            </a:r>
            <a:endParaRPr lang="en-US" sz="17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0C0C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 fk_return_order</a:t>
            </a:r>
            <a:endParaRPr lang="en-US" sz="17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0C0C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FOREIGN KEY (order_id) REFERENCES Orders(order_id)</a:t>
            </a:r>
            <a:endParaRPr lang="en-US" sz="17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0C0C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DELETE RESTRICT,</a:t>
            </a:r>
            <a:endParaRPr lang="en-US" sz="17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0C0C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 chk_return_status CHECK (</a:t>
            </a:r>
            <a:endParaRPr lang="en-US" sz="17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0C0C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return_status IN ('Requested','Approved','Received',</a:t>
            </a:r>
            <a:endParaRPr lang="en-US" sz="17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0C0C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'Inspected','Rejected','Refunded')</a:t>
            </a:r>
            <a:endParaRPr lang="en-US" sz="17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0C0C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17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0C0C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026199" y="1057374"/>
            <a:ext cx="3555911" cy="608310"/>
          </a:xfrm>
          <a:prstGeom prst="rect">
            <a:avLst/>
          </a:prstGeom>
          <a:solidFill>
            <a:srgbClr val="0E2A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54793" y="1286279"/>
            <a:ext cx="3327317" cy="15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Tables — PLACEHOLDER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026199" y="1818084"/>
            <a:ext cx="3555911" cy="608310"/>
          </a:xfrm>
          <a:prstGeom prst="rect">
            <a:avLst/>
          </a:prstGeom>
          <a:solidFill>
            <a:srgbClr val="0E2A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54793" y="2046989"/>
            <a:ext cx="3327317" cy="15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Constraints — PLACEHOLDER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026199" y="2578795"/>
            <a:ext cx="3555911" cy="608310"/>
          </a:xfrm>
          <a:prstGeom prst="rect">
            <a:avLst/>
          </a:prstGeom>
          <a:solidFill>
            <a:srgbClr val="0E2A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254793" y="2807699"/>
            <a:ext cx="3327317" cy="15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Indexes — PLACEHOLDER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026199" y="3220549"/>
            <a:ext cx="3555911" cy="15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95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Values remain placeholders until measured from the implementation.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026199" y="3404493"/>
            <a:ext cx="3555911" cy="657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spcAft>
                <a:spcPts val="250"/>
              </a:spcAft>
              <a:buNone/>
            </a:pPr>
            <a:r>
              <a:rPr lang="en-US" sz="12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Indexes:</a:t>
            </a:r>
            <a:r>
              <a:rPr lang="en-US" sz="12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customer_id, order_id, return_status, refund_status</a:t>
            </a:r>
            <a:endParaRPr lang="en-US" sz="1200" dirty="0"/>
          </a:p>
          <a:p>
            <a:pPr marL="0" indent="0" algn="l">
              <a:lnSpc>
                <a:spcPct val="85000"/>
              </a:lnSpc>
              <a:buNone/>
            </a:pPr>
            <a:r>
              <a:rPr lang="en-US" sz="12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Seeded sample data supports first-round query and API testing.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9585" y="6528296"/>
            <a:ext cx="1961307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STUDY RECORD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93212" y="6528296"/>
            <a:ext cx="698483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8622"/>
            <a:ext cx="1158211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DATABASE-ENFORCED LOGIC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09585" y="899515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 kern="100" spc="-23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Business rules live close to the data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09585" y="1443633"/>
            <a:ext cx="4267093" cy="3858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0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Audit trigger</a:t>
            </a: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records every return or refund status change.</a:t>
            </a:r>
            <a:endParaRPr lang="en-US" sz="2000" dirty="0"/>
          </a:p>
          <a:p>
            <a:pPr marL="0" indent="0" algn="l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0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Validation trigger</a:t>
            </a: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blocks returns outside the return window or above purchased quantity.</a:t>
            </a:r>
            <a:endParaRPr lang="en-US" sz="2000" dirty="0"/>
          </a:p>
          <a:p>
            <a:pPr marL="0" indent="0" algn="l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0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Stored procedure</a:t>
            </a: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</a:t>
            </a:r>
            <a:r>
              <a:rPr lang="en-US" sz="2000" dirty="0">
                <a:solidFill>
                  <a:srgbClr val="0C0C0C"/>
                </a:solidFill>
                <a:highlight>
                  <a:srgbClr val="F5F5F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sp_process_refund</a:t>
            </a: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coordinates refund processing.</a:t>
            </a:r>
            <a:endParaRPr lang="en-US" sz="200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Transaction safety</a:t>
            </a: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uses ACID transactions with COMMIT and ROLLBACK.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371" y="1443633"/>
            <a:ext cx="5531406" cy="31114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6528296"/>
            <a:ext cx="1961307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STUDY RECORD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493212" y="6528296"/>
            <a:ext cx="698483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8622"/>
            <a:ext cx="1158211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QUERY LAYER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09585" y="899515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 kern="100" spc="-23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Queries connect operations with product-level insight</a:t>
            </a:r>
            <a:endParaRPr lang="en-US" sz="2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443633"/>
          <a:ext cx="6852669" cy="914400"/>
        </p:xfrm>
        <a:graphic>
          <a:graphicData uri="http://schemas.openxmlformats.org/drawingml/2006/table">
            <a:tbl>
              <a:tblPr/>
              <a:tblGrid>
                <a:gridCol w="1644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3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47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9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Type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Query catalog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Purpose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5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Operational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Order history with returns via JOIN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Trace activity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5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Operational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Pending returns awaiting inspection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Prioritize work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5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Operational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Refund status by order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Resolve cases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5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Analytical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Return rate per product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Product insight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32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Analytical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Monthly refund totals; top return reasons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Trend review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021040" y="1443633"/>
            <a:ext cx="3561070" cy="338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2300" b="1" kern="100" spc="-5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Index effect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8021040" y="1897273"/>
            <a:ext cx="3561070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Before / after query time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1040" y="2237581"/>
            <a:ext cx="3561070" cy="1801217"/>
          </a:xfrm>
          <a:prstGeom prst="rect">
            <a:avLst/>
          </a:prstGeom>
        </p:spPr>
      </p:pic>
      <p:sp>
        <p:nvSpPr>
          <p:cNvPr id="4" name="Text 4"/>
          <p:cNvSpPr/>
          <p:nvPr/>
        </p:nvSpPr>
        <p:spPr>
          <a:xfrm>
            <a:off x="609585" y="6528296"/>
            <a:ext cx="1961307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STUDY RECORD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1493212" y="6528296"/>
            <a:ext cx="698483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8622"/>
            <a:ext cx="1158211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APPLICATION LAYER · ROLE CONTROL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09585" y="899515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 kern="100" spc="-23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The application layer exposes controlled actions by role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09585" y="1448078"/>
            <a:ext cx="7213420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REST endpoints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1864432"/>
            <a:ext cx="7213420" cy="503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POST /orders · POST /returns · PUT /returns/{id}/inspect · POST /refunds/{id}/approve · GET /orders/{id}/status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456656"/>
          <a:ext cx="7213420" cy="914400"/>
        </p:xfrm>
        <a:graphic>
          <a:graphicData uri="http://schemas.openxmlformats.org/drawingml/2006/table">
            <a:tbl>
              <a:tblPr/>
              <a:tblGrid>
                <a:gridCol w="2019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36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9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Role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Primary permission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9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Customer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Create orders and returns; view order status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9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Support agent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Review returns and approve eligible actions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5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Warehouse operator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Receive and inspect returned items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2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Admin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Manage roles, refunds, and audit access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975400" y="1443633"/>
            <a:ext cx="3606710" cy="2460228"/>
          </a:xfrm>
          <a:prstGeom prst="roundRect">
            <a:avLst>
              <a:gd name="adj" fmla="val 465"/>
            </a:avLst>
          </a:prstGeom>
          <a:noFill/>
          <a:ln w="25399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229394" y="1706655"/>
            <a:ext cx="3352716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APPLICATION / API FLOW</a:t>
            </a:r>
            <a:endParaRPr lang="en-US" sz="1450" dirty="0"/>
          </a:p>
        </p:txBody>
      </p:sp>
      <p:sp>
        <p:nvSpPr>
          <p:cNvPr id="6" name="Text 6"/>
          <p:cNvSpPr/>
          <p:nvPr/>
        </p:nvSpPr>
        <p:spPr>
          <a:xfrm>
            <a:off x="8229394" y="2014236"/>
            <a:ext cx="3098722" cy="780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SCREENSHOT</a:t>
            </a:r>
            <a:endParaRPr lang="en-US" sz="240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2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PLACEHOLDER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8229394" y="2941241"/>
            <a:ext cx="1022424" cy="50701"/>
          </a:xfrm>
          <a:prstGeom prst="roundRect">
            <a:avLst>
              <a:gd name="adj" fmla="val 49999"/>
            </a:avLst>
          </a:prstGeom>
          <a:solidFill>
            <a:srgbClr val="1A1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229394" y="3149711"/>
            <a:ext cx="3098722" cy="503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Reserve this frame for the application or API flow capture.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975400" y="4289306"/>
            <a:ext cx="3606710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Security:</a:t>
            </a: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parameterized queries and no card data stored.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09585" y="6528296"/>
            <a:ext cx="1961307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STUDY RECORD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493212" y="6528296"/>
            <a:ext cx="698483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8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8622"/>
            <a:ext cx="1158211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VALIDATION READINESS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09585" y="899515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 kern="100" spc="-23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Core schema work is complete; validation is the next risk</a:t>
            </a:r>
            <a:endParaRPr lang="en-US" sz="2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443633"/>
            <a:ext cx="5415125" cy="1987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3526742"/>
            <a:ext cx="5669118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Implementation progress by workstream.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8703" y="1443633"/>
          <a:ext cx="5303407" cy="914400"/>
        </p:xfrm>
        <a:graphic>
          <a:graphicData uri="http://schemas.openxmlformats.org/drawingml/2006/table">
            <a:tbl>
              <a:tblPr/>
              <a:tblGrid>
                <a:gridCol w="1495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8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91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9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Test type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Example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Result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5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Constraint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Quantity above purchased amount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Blocked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5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Unit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Refund procedure validation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Pending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5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Integration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Return to refund API path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Pending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2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Failure-rollback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Refund error during transaction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Pending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09585" y="5579182"/>
            <a:ext cx="10972526" cy="503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Challenges and fixes:</a:t>
            </a: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constraints protect invalid values, triggers protect workflow state, indexes support lookup paths, and transaction handling protects consistency during failure.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09585" y="6528296"/>
            <a:ext cx="1961307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STUDY RECORD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1493212" y="6528296"/>
            <a:ext cx="698483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9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323" y="2950539"/>
            <a:ext cx="1356386" cy="1088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400" b="1" kern="100" spc="-118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03</a:t>
            </a:r>
            <a:endParaRPr lang="en-US" sz="8400" dirty="0"/>
          </a:p>
        </p:txBody>
      </p:sp>
      <p:sp>
        <p:nvSpPr>
          <p:cNvPr id="3" name="Text 1"/>
          <p:cNvSpPr/>
          <p:nvPr/>
        </p:nvSpPr>
        <p:spPr>
          <a:xfrm>
            <a:off x="3489833" y="1064114"/>
            <a:ext cx="7660488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NEXT REVIEW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489833" y="1349673"/>
            <a:ext cx="7050903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b="1" kern="100" spc="-29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Review 3 will prove the system end to end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489833" y="2484723"/>
            <a:ext cx="7660488" cy="357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2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From a designed model to a working, trustworthy system.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489833" y="3038078"/>
            <a:ext cx="5288128" cy="31651"/>
          </a:xfrm>
          <a:prstGeom prst="roundRect">
            <a:avLst>
              <a:gd name="adj" fmla="val 49998"/>
            </a:avLst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489833" y="3271441"/>
            <a:ext cx="3373055" cy="2066727"/>
          </a:xfrm>
          <a:prstGeom prst="roundRect">
            <a:avLst>
              <a:gd name="adj" fmla="val 5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18427" y="3509063"/>
            <a:ext cx="3144461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REMAINING WORK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718427" y="3813850"/>
            <a:ext cx="2915867" cy="1300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Complete UI · performance and load testing · backup and recovery test · analytics dashboard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167681" y="3271441"/>
            <a:ext cx="3373055" cy="2066727"/>
          </a:xfrm>
          <a:prstGeom prst="roundRect">
            <a:avLst>
              <a:gd name="adj" fmla="val 5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396275" y="3509063"/>
            <a:ext cx="3144461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100" spc="87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REVIEW 3 DELIVERABLES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396275" y="3813850"/>
            <a:ext cx="2915867" cy="1300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Live end-to-end demo · full test report · performance comparison · conclusion and future scope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80248" y="5482312"/>
            <a:ext cx="7660488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Q&amp;A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858</Words>
  <Application>Microsoft Office PowerPoint</Application>
  <PresentationFormat>Widescreen</PresentationFormat>
  <Paragraphs>166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JetBrains Mono Medium</vt:lpstr>
      <vt:lpstr>Tinos Bold</vt:lpstr>
      <vt:lpstr>Consolas</vt:lpstr>
      <vt:lpstr>Tinos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Prajvesh Kakaraparthi</cp:lastModifiedBy>
  <cp:revision>3</cp:revision>
  <dcterms:created xsi:type="dcterms:W3CDTF">2026-10-09T10:18:16Z</dcterms:created>
  <dcterms:modified xsi:type="dcterms:W3CDTF">2026-10-10T15:44:07Z</dcterms:modified>
</cp:coreProperties>
</file>
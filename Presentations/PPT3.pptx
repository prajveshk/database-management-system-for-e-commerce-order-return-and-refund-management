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JetBrains Mono Medium" panose="020B0604020202020204" charset="0"/>
      <p:regular r:id="rId17"/>
    </p:embeddedFont>
    <p:embeddedFont>
      <p:font typeface="Tinos" panose="020B0604020202020204" charset="0"/>
      <p:regular r:id="rId18"/>
    </p:embeddedFont>
    <p:embeddedFont>
      <p:font typeface="Tino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34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54435"/>
            <a:ext cx="8534187" cy="4149030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387" y="1795257"/>
            <a:ext cx="800080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FINAL DEMONSTRATION · REVIEW 3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33387" y="2082101"/>
            <a:ext cx="7467413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0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Design and Implementation of a Database Management System for E-Commerce Order, Return and Refund 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3387" y="4359454"/>
            <a:ext cx="800080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Results, validation, and 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3387" y="4823432"/>
            <a:ext cx="800080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Kakaraparthi Komal Prajvesh · Roll No. 25WU0102114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34187" y="1354435"/>
            <a:ext cx="3657509" cy="4149030"/>
          </a:xfrm>
          <a:prstGeom prst="rect">
            <a:avLst/>
          </a:prstGeom>
          <a:solidFill>
            <a:srgbClr val="126B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38979" y="3499736"/>
            <a:ext cx="335271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STUDY RECORD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838979" y="3852148"/>
            <a:ext cx="3047924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Controlled lifecycle management from order placement to refund and audit.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ARC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project moved from requirements to a validated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443633"/>
            <a:ext cx="3428914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1839099"/>
            <a:ext cx="34289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Problem, SRS, architecture, schema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95688" y="1443633"/>
            <a:ext cx="3200320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2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495688" y="1839099"/>
            <a:ext cx="320032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Normalized schema, SQL, triggers, procedures, APIs, first tests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53196" y="1443633"/>
            <a:ext cx="3428914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53196" y="1839099"/>
            <a:ext cx="34289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Complete system, validation, results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9585" y="2949476"/>
            <a:ext cx="2743131" cy="1009749"/>
          </a:xfrm>
          <a:custGeom>
            <a:avLst/>
            <a:gdLst/>
            <a:ahLst/>
            <a:cxnLst/>
            <a:rect l="l" t="t" r="r" b="b"/>
            <a:pathLst>
              <a:path w="2743131" h="1009749">
                <a:moveTo>
                  <a:pt x="9525" y="0"/>
                </a:moveTo>
                <a:lnTo>
                  <a:pt x="2743131" y="0"/>
                </a:lnTo>
                <a:lnTo>
                  <a:pt x="2743131" y="1009749"/>
                </a:lnTo>
                <a:lnTo>
                  <a:pt x="9525" y="1009749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2780" y="3075484"/>
            <a:ext cx="7365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93770" y="3080159"/>
            <a:ext cx="1955751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Single source of truth for order, return, and refund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52716" y="2949476"/>
            <a:ext cx="2743131" cy="1009749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55911" y="3075484"/>
            <a:ext cx="7365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6902" y="3080159"/>
            <a:ext cx="1955751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Enforced state transitions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48" y="2949476"/>
            <a:ext cx="2743131" cy="1009749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99042" y="3075484"/>
            <a:ext cx="7365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80033" y="3080159"/>
            <a:ext cx="2158946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38979" y="2949476"/>
            <a:ext cx="2743131" cy="1009749"/>
          </a:xfrm>
          <a:custGeom>
            <a:avLst/>
            <a:gdLst/>
            <a:ahLst/>
            <a:cxnLst/>
            <a:rect l="l" t="t" r="r" b="b"/>
            <a:pathLst>
              <a:path w="2743131" h="1009749">
                <a:moveTo>
                  <a:pt x="0" y="0"/>
                </a:moveTo>
                <a:lnTo>
                  <a:pt x="2733607" y="0"/>
                </a:lnTo>
                <a:arcTo wR="9525" hR="9525" stAng="16200000" swAng="5400000"/>
                <a:lnTo>
                  <a:pt x="2743131" y="1000224"/>
                </a:lnTo>
                <a:arcTo wR="9525" hR="9525" stAng="0" swAng="5400000"/>
                <a:lnTo>
                  <a:pt x="0" y="1009749"/>
                </a:lnTo>
                <a:lnTo>
                  <a:pt x="0" y="0"/>
                </a:lnTo>
                <a:close/>
              </a:path>
            </a:pathLst>
          </a:cu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042174" y="3075484"/>
            <a:ext cx="7365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23164" y="3080159"/>
            <a:ext cx="2158946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585" y="4102608"/>
            <a:ext cx="1158211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System inventory · TABLES: placeholder · TRIGGERS: placeholder · PROCEDURES: placeholder · API ENDPOINTS: placeholder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60743" y="1443633"/>
            <a:ext cx="12700" cy="1366143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918252" y="1443633"/>
            <a:ext cx="12700" cy="1366143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46366" y="2949476"/>
            <a:ext cx="12700" cy="1009749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89498" y="2949476"/>
            <a:ext cx="12700" cy="1009749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832629" y="2949476"/>
            <a:ext cx="12700" cy="1009749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652257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SYSTEM DESIGN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5912992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 three-layer architecture keeps the lifecycle controlled end to end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9585" y="1841302"/>
            <a:ext cx="5912992" cy="975221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8179" y="2028124"/>
            <a:ext cx="568439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CLIENT LAYER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8179" y="2299891"/>
            <a:ext cx="5455803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 Portal · Operations Dashboard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09585" y="2968923"/>
            <a:ext cx="5912992" cy="1314053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38179" y="3155745"/>
            <a:ext cx="568439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SERVICE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8179" y="3427512"/>
            <a:ext cx="5455803" cy="67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Auth · Order · Return · Refund · Notification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09585" y="4435376"/>
            <a:ext cx="5912992" cy="1314053"/>
          </a:xfrm>
          <a:prstGeom prst="rect">
            <a:avLst/>
          </a:prstGeom>
          <a:solidFill>
            <a:srgbClr val="087F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8179" y="4622198"/>
            <a:ext cx="568439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8179" y="4893965"/>
            <a:ext cx="5455803" cy="67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Relational DBMS · constraints · transactions · indexes · audit log · backups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436855" y="0"/>
            <a:ext cx="6350" cy="68580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97198" y="653150"/>
            <a:ext cx="449449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ER MODEL · PLACEHOLDER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97198" y="1001117"/>
          <a:ext cx="3884912" cy="914400"/>
        </p:xfrm>
        <a:graphic>
          <a:graphicData uri="http://schemas.openxmlformats.org/drawingml/2006/table">
            <a:tbl>
              <a:tblPr/>
              <a:tblGrid>
                <a:gridCol w="1942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Lifecycle path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Supporting entities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Customer → Order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Role · Product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Order → OrderItem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Inventory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OrderItem → ReturnItem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Inspection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Inspection → Refund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AuditLog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97198" y="5461707"/>
            <a:ext cx="3884912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All tables are in 3NF. Since Review 1: item-level returns, Inspection, AuditLog, and role tables were added.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14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442315"/>
            <a:ext cx="10972526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 turns business rules into enforceable database behavior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860" y="1384102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9199" y="1984177"/>
            <a:ext cx="2514537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DBMS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276717" y="1476177"/>
            <a:ext cx="2285943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Backend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420" y="1384102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8893" y="1984177"/>
            <a:ext cx="2285943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Frontend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848" y="1384102"/>
            <a:ext cx="507987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5470" y="1984177"/>
            <a:ext cx="2514537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Tools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609585" y="2403773"/>
            <a:ext cx="444489" cy="444500"/>
          </a:xfrm>
          <a:prstGeom prst="ellipse">
            <a:avLst/>
          </a:prstGeom>
          <a:solidFill>
            <a:srgbClr val="1A1A8C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777856" y="2518073"/>
            <a:ext cx="7175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308067" y="2500674"/>
            <a:ext cx="4635384" cy="520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Integrity.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Constraints and indexes protect data quality and query speed.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09585" y="3171527"/>
            <a:ext cx="444489" cy="444500"/>
          </a:xfrm>
          <a:prstGeom prst="ellipse">
            <a:avLst/>
          </a:prstGeom>
          <a:solidFill>
            <a:srgbClr val="1A1A8C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777856" y="3285827"/>
            <a:ext cx="7175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308067" y="3268428"/>
            <a:ext cx="4635384" cy="520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Traceability.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An audit-logging trigger records critical changes.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9585" y="3939282"/>
            <a:ext cx="444489" cy="444500"/>
          </a:xfrm>
          <a:prstGeom prst="ellipse">
            <a:avLst/>
          </a:prstGeom>
          <a:solidFill>
            <a:srgbClr val="1A1A8C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777856" y="4053582"/>
            <a:ext cx="7175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308067" y="4036183"/>
            <a:ext cx="4635384" cy="260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Eligibility.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 return-window trigger blocks late requests.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09585" y="4536182"/>
            <a:ext cx="444489" cy="444500"/>
          </a:xfrm>
          <a:prstGeom prst="ellipse">
            <a:avLst/>
          </a:prstGeom>
          <a:solidFill>
            <a:srgbClr val="1A1A8C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777856" y="4650482"/>
            <a:ext cx="7175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308067" y="4633083"/>
            <a:ext cx="4635384" cy="520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Centralized logic.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</a:t>
            </a:r>
            <a:r>
              <a:rPr lang="en-US" sz="1600" dirty="0">
                <a:solidFill>
                  <a:srgbClr val="0C0C0C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sp_process_refund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manages refund behavior.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09585" y="5303937"/>
            <a:ext cx="444489" cy="444500"/>
          </a:xfrm>
          <a:prstGeom prst="ellipse">
            <a:avLst/>
          </a:prstGeom>
          <a:solidFill>
            <a:srgbClr val="1A1A8C"/>
          </a:solidFill>
          <a:ln w="1270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777856" y="5418237"/>
            <a:ext cx="7175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308067" y="5400838"/>
            <a:ext cx="4635384" cy="520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Recovery.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ACID transactions support commit and rollback.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248244" y="2403773"/>
            <a:ext cx="5333867" cy="4214713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6502237" y="2641395"/>
            <a:ext cx="507987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TRANSACTION PATH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6502237" y="3092549"/>
            <a:ext cx="4825879" cy="3054449"/>
          </a:xfrm>
          <a:prstGeom prst="roundRect">
            <a:avLst>
              <a:gd name="adj" fmla="val 37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6502237" y="3092549"/>
            <a:ext cx="25399" cy="3054449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6786690" y="3311783"/>
            <a:ext cx="4282373" cy="2622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sp_process_refund(order_id, return_id);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inventory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status = 'AVAILABLE'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item_id = ...;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AuditLog (...);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ROLLBACK on failure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3346366" y="1384102"/>
            <a:ext cx="12700" cy="879971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089498" y="1384102"/>
            <a:ext cx="12700" cy="879971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8832629" y="1384102"/>
            <a:ext cx="12700" cy="879971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LIVE DEMONSTRATION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live demo follows one order through seven controlled states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9585" y="1443633"/>
            <a:ext cx="2628834" cy="1176834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8508" y="1570633"/>
            <a:ext cx="2425639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 places order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11957" y="1965337"/>
            <a:ext cx="1433576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[ORDER]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90815" y="1443633"/>
            <a:ext cx="2628834" cy="1176834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92413" y="1570633"/>
            <a:ext cx="2425639" cy="559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 requests return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31177" y="2245233"/>
            <a:ext cx="1557695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[RETURN]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046" y="1443633"/>
            <a:ext cx="2628834" cy="1176834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70597" y="1570633"/>
            <a:ext cx="2425639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Support approves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95531" y="1965337"/>
            <a:ext cx="179135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[APPROVAL]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53276" y="1443633"/>
            <a:ext cx="2628834" cy="1176834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258664" y="1570633"/>
            <a:ext cx="2425639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Warehouse inspects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07310" y="1965337"/>
            <a:ext cx="193025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[INSPECTION]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2772866"/>
            <a:ext cx="3555911" cy="896938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68688" y="2899866"/>
            <a:ext cx="3352716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Refund is processed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913386" y="3294571"/>
            <a:ext cx="1557795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[REFUND]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17892" y="2772866"/>
            <a:ext cx="3555911" cy="896938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7983" y="2899866"/>
            <a:ext cx="3352716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Inventory is updated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43004" y="3294571"/>
            <a:ext cx="191517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[INVENTORY]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26199" y="2772866"/>
            <a:ext cx="3555911" cy="896938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833919" y="2899866"/>
            <a:ext cx="3352716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Audit log: full trail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88121" y="3294571"/>
            <a:ext cx="184165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[AUDIT LOG]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585" y="3809504"/>
            <a:ext cx="10972526" cy="960041"/>
          </a:xfrm>
          <a:prstGeom prst="roundRect">
            <a:avLst>
              <a:gd name="adj" fmla="val 119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3578" y="4131449"/>
            <a:ext cx="1107412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Blocked action:</a:t>
            </a:r>
            <a:r>
              <a:rPr lang="en-US" sz="2000" dirty="0">
                <a:solidFill>
                  <a:srgbClr val="00000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return outside the allowed window → request rejected and reason recorded.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SECURITY AND CONTROL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Role-based access limits each actor to the actions they need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452655"/>
            <a:ext cx="533386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PERMISSIONS BY ROLE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9585" y="1752997"/>
            <a:ext cx="2438339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09585" y="2207399"/>
            <a:ext cx="243833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orders; Request return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05112" y="1752997"/>
            <a:ext cx="2438339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Support agent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505112" y="2207399"/>
            <a:ext cx="243833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orders; Approve return; Process refund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310235"/>
            <a:ext cx="2438339" cy="67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Warehouse operator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585" y="4103469"/>
            <a:ext cx="243833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orders; Record inspection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05112" y="3310235"/>
            <a:ext cx="2438339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05112" y="3764637"/>
            <a:ext cx="2438339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orders; Request return; Approve return; Record inspection; Process refund; Manage roles; View audit log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48244" y="1452655"/>
            <a:ext cx="533386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SECURITY CONTROLS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48244" y="1752997"/>
            <a:ext cx="5333867" cy="2102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Parameterized queries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Reduce injection risk.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 validation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Reject malformed requests.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Password hashing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Protect credentials.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 card data stored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; provider reference only.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Admin-only audit access.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48244" y="3947716"/>
            <a:ext cx="5333867" cy="1432322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76838" y="4180761"/>
            <a:ext cx="487667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Access denied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Unauthorized action response: [SCREENSHOT]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70168" y="1752997"/>
            <a:ext cx="12700" cy="1328638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9585" y="3075285"/>
            <a:ext cx="2666933" cy="12700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70168" y="3081635"/>
            <a:ext cx="12700" cy="2628801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76518" y="3075285"/>
            <a:ext cx="2666933" cy="12700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Testing confirms correctness across rules, services, failures, and concurrency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41302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8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Category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Total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Passed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Notes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Constraint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Integrity rules and invalid states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Unit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Service and procedure behavior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Integration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API-to-database lifecycle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Failure / rollback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Partial failure recovery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Concurrency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 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Competing updates and duplicate actions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5218390"/>
            <a:ext cx="34543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FIX 01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Invalid state transition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68691" y="5218390"/>
            <a:ext cx="34543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FIX 02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Duplicate refund prevention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7797" y="5218390"/>
            <a:ext cx="34543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FIX 03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Rollback after partial failure</a:t>
            </a:r>
            <a:endParaRPr lang="en-US" sz="2000" dirty="0"/>
          </a:p>
        </p:txBody>
      </p:sp>
      <p:sp>
        <p:nvSpPr>
          <p:cNvPr id="4" name="Text 5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Indexing keeps query response stable as the dataset grows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43633"/>
          <a:ext cx="6834910" cy="914400"/>
        </p:xfrm>
        <a:graphic>
          <a:graphicData uri="http://schemas.openxmlformats.org/drawingml/2006/table">
            <a:tbl>
              <a:tblPr/>
              <a:tblGrid>
                <a:gridCol w="1708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3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Records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With indexes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Without indexes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1K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[placeholder]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[placeholder]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10K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[placeholder]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[placeholder]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100K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[placeholder]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[placeholder]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1584" y="1543943"/>
            <a:ext cx="3680527" cy="975221"/>
          </a:xfrm>
          <a:custGeom>
            <a:avLst/>
            <a:gdLst/>
            <a:ahLst/>
            <a:cxnLst/>
            <a:rect l="l" t="t" r="r" b="b"/>
            <a:pathLst>
              <a:path w="3680527" h="975221">
                <a:moveTo>
                  <a:pt x="9525" y="0"/>
                </a:moveTo>
                <a:lnTo>
                  <a:pt x="3671002" y="0"/>
                </a:lnTo>
                <a:arcTo wR="9525" hR="9525" stAng="16200000" swAng="5400000"/>
                <a:lnTo>
                  <a:pt x="3680527" y="975221"/>
                </a:lnTo>
                <a:lnTo>
                  <a:pt x="0" y="975221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130178" y="1730765"/>
            <a:ext cx="345193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REFUND-PROCESSING TIME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30178" y="2002532"/>
            <a:ext cx="3223338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1BA6A6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[placeholder]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901584" y="2519164"/>
            <a:ext cx="3680527" cy="975221"/>
          </a:xfrm>
          <a:custGeom>
            <a:avLst/>
            <a:gdLst/>
            <a:ahLst/>
            <a:cxnLst/>
            <a:rect l="l" t="t" r="r" b="b"/>
            <a:pathLst>
              <a:path w="3680527" h="975221">
                <a:moveTo>
                  <a:pt x="0" y="0"/>
                </a:moveTo>
                <a:lnTo>
                  <a:pt x="3680527" y="0"/>
                </a:lnTo>
                <a:lnTo>
                  <a:pt x="3680527" y="965696"/>
                </a:lnTo>
                <a:arcTo wR="9525" hR="9525" stAng="0" swAng="5400000"/>
                <a:lnTo>
                  <a:pt x="9525" y="975221"/>
                </a:lnTo>
                <a:arcTo wR="9525" h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6"/>
          <p:cNvSpPr/>
          <p:nvPr/>
        </p:nvSpPr>
        <p:spPr>
          <a:xfrm>
            <a:off x="8130178" y="2705986"/>
            <a:ext cx="345193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BACKUP / RESTORE TEST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30178" y="2977753"/>
            <a:ext cx="3223338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1BA6A6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[passed / placeholder]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09585" y="3738078"/>
            <a:ext cx="10972526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Query time with indexes versus without indexes across 1K, 10K, and 100K records. Indexed queries remain more responsive as records grow.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01584" y="2512814"/>
            <a:ext cx="3680527" cy="12700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731501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IMPACT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6705432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proposed DBMS replaces fragmented tracking with controlled visibility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41302"/>
          <a:ext cx="6705432" cy="914400"/>
        </p:xfrm>
        <a:graphic>
          <a:graphicData uri="http://schemas.openxmlformats.org/drawingml/2006/table">
            <a:tbl>
              <a:tblPr/>
              <a:tblGrid>
                <a:gridCol w="2145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Dimension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Before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After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Status visibility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Manual/spreadsheet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One lifecycle record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Audit trail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Fragmented/absent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Traceable decisions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Invalid transitions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Manual updates possible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Blocked by controls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8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Refund accuracy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Duplication-prone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Centralized procedure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F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565531"/>
            <a:ext cx="670543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Impact: one consistent lifecycle record, traceable decisions, safer refunds, and clearer operational ownership.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394" y="0"/>
            <a:ext cx="3962301" cy="6858000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508787" y="2389776"/>
            <a:ext cx="368290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LIMITATIONS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08787" y="2737743"/>
            <a:ext cx="3403515" cy="1739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Sample / simulated data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Mocked payment gateway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 tested at production scale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Single-database deployment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4" name="Text 7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41534" cy="6858000"/>
          </a:xfrm>
          <a:prstGeom prst="rect">
            <a:avLst/>
          </a:prstGeom>
          <a:solidFill>
            <a:srgbClr val="0B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02263" y="2950539"/>
            <a:ext cx="1422364" cy="1088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400" b="1" kern="100" spc="-118" dirty="0">
                <a:solidFill>
                  <a:srgbClr val="1BA6A6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10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2997125" y="723496"/>
            <a:ext cx="919457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2997125" y="1009055"/>
            <a:ext cx="8584985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kern="100" spc="-29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All objectives were met, with a clear path to scale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997125" y="2151638"/>
            <a:ext cx="858498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system delivers a controlled, auditable, role-aware order, return, and refund lifecycle.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97125" y="2941419"/>
            <a:ext cx="1917652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Schema design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Normalized structure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71966" y="2941419"/>
            <a:ext cx="168905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ACID transactions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Safe state changes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18212" y="2941419"/>
            <a:ext cx="168905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State machines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Controlled lifecycle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64458" y="2941419"/>
            <a:ext cx="1917652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Indexing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Responsive growth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97125" y="4418620"/>
            <a:ext cx="8584985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Future scope: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analytics dashboard · ML-based fraud and return-risk prediction · automated return eligibility · event-driven notifications · cloud deployment and replication.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97125" y="5120382"/>
            <a:ext cx="6438739" cy="31651"/>
          </a:xfrm>
          <a:prstGeom prst="roundRect">
            <a:avLst>
              <a:gd name="adj" fmla="val 49998"/>
            </a:avLst>
          </a:prstGeom>
          <a:solidFill>
            <a:srgbClr val="1B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92333" y="5358190"/>
            <a:ext cx="919457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lifecycle, one source of truth.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2333" y="5822930"/>
            <a:ext cx="919457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Thank You · Q&amp;A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37021" y="2936974"/>
            <a:ext cx="12700" cy="1300163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283268" y="2936974"/>
            <a:ext cx="12700" cy="1300163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429514" y="2936974"/>
            <a:ext cx="12700" cy="1300163"/>
          </a:xfrm>
          <a:prstGeom prst="rect">
            <a:avLst/>
          </a:prstGeom>
          <a:solidFill>
            <a:srgbClr val="D7E1E7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Microsoft Office PowerPoint</Application>
  <PresentationFormat>Widescreen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JetBrains Mono Medium</vt:lpstr>
      <vt:lpstr>Tinos Bold</vt:lpstr>
      <vt:lpstr>Consolas</vt:lpstr>
      <vt:lpstr>Tinos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Prajvesh Kakaraparthi</cp:lastModifiedBy>
  <cp:revision>3</cp:revision>
  <dcterms:created xsi:type="dcterms:W3CDTF">2026-10-09T10:29:03Z</dcterms:created>
  <dcterms:modified xsi:type="dcterms:W3CDTF">2026-10-10T15:45:04Z</dcterms:modified>
</cp:coreProperties>
</file>